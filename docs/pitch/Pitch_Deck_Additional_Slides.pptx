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11480" y="11887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5156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Project Description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480" y="1554480"/>
            <a:ext cx="42062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3749040"/>
            <a:ext cx="4206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 real-time, multi-country news intelligence platform — collecting, classifying and visualizing global stories on an interactive map.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846320" y="502920"/>
            <a:ext cx="3886200" cy="4160520"/>
          </a:xfrm>
          <a:prstGeom prst="roundRect">
            <a:avLst>
              <a:gd fmla="val 4235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074920" y="7772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Technologies Applied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74920" y="132588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40680" y="1325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Distributed 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40680" y="161848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ClickHouse warehouse · DuckDB for local dev (HDFS / Hive class)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074920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440680" y="21031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Distributed (Stream) 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440680" y="239572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Kafka ingestion buffer · Spark transformations · Streamlit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074920" y="28803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440680" y="28803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440680" y="317296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Topic modeling &amp; multilingual summarization on article 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074920" y="365760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440680" y="36576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Supporting tooling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440680" y="395020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dlt · BeautifulSoup scraping · </a:t>
            </a:r>
            <a:r>
              <a:rPr lang="en-US" sz="105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Open Telemetry</a:t>
            </a:r>
            <a:r>
              <a:rPr b="0" i="0" lang="en-US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tracing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411480" y="11887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05156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User Groups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1480" y="1554480"/>
            <a:ext cx="4206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Groups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11480" y="374904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Three distinct audiences interact with the platform — each with different needs and depth of access.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846320" y="502920"/>
            <a:ext cx="3886200" cy="1280160"/>
          </a:xfrm>
          <a:prstGeom prst="roundRect">
            <a:avLst>
              <a:gd fmla="val 12857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074920" y="6858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 Public / Readers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074920" y="105156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Browse a live world map of news, compare how stories appear across countries, explore topics of the day.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846320" y="1920240"/>
            <a:ext cx="3886200" cy="1280160"/>
          </a:xfrm>
          <a:prstGeom prst="roundRect">
            <a:avLst>
              <a:gd fmla="val 12857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074920" y="21031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Researchers &amp; Analysts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074920" y="246888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Track narrative shifts, run topic and country comparisons, export filtered datasets for deeper analysis.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846320" y="3337560"/>
            <a:ext cx="3886200" cy="1280160"/>
          </a:xfrm>
          <a:prstGeom prst="roundRect">
            <a:avLst>
              <a:gd fmla="val 12857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074920" y="35204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Engineers (Internal)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074920" y="388620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Monitor pipeline health, ingestion latency and processing failures via observability traces.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411480" y="11887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05156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11480" y="15544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11480" y="24688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14400" y="2468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Analyze global news trends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411480" y="2852928"/>
            <a:ext cx="416052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5"/>
          <p:cNvSpPr/>
          <p:nvPr/>
        </p:nvSpPr>
        <p:spPr>
          <a:xfrm>
            <a:off x="411480" y="29718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14400" y="2971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Compare cross-country perspectives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5"/>
          <p:cNvCxnSpPr/>
          <p:nvPr/>
        </p:nvCxnSpPr>
        <p:spPr>
          <a:xfrm>
            <a:off x="411480" y="3355848"/>
            <a:ext cx="416052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5"/>
          <p:cNvSpPr/>
          <p:nvPr/>
        </p:nvSpPr>
        <p:spPr>
          <a:xfrm>
            <a:off x="411480" y="34747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14400" y="3474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Detect emerging topics in real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411480" y="3858768"/>
            <a:ext cx="416052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5"/>
          <p:cNvSpPr/>
          <p:nvPr/>
        </p:nvSpPr>
        <p:spPr>
          <a:xfrm>
            <a:off x="411480" y="39776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14400" y="3977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Monitor pipeline health &amp; latency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5"/>
          <p:cNvCxnSpPr/>
          <p:nvPr/>
        </p:nvCxnSpPr>
        <p:spPr>
          <a:xfrm>
            <a:off x="411480" y="4361688"/>
            <a:ext cx="416052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5"/>
          <p:cNvSpPr/>
          <p:nvPr/>
        </p:nvSpPr>
        <p:spPr>
          <a:xfrm>
            <a:off x="5623550" y="777250"/>
            <a:ext cx="2959500" cy="3931800"/>
          </a:xfrm>
          <a:prstGeom prst="roundRect">
            <a:avLst>
              <a:gd fmla="val 4225" name="adj"/>
            </a:avLst>
          </a:prstGeom>
          <a:solidFill>
            <a:srgbClr val="F4F4F4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486400" y="868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989320" y="1280160"/>
            <a:ext cx="2240280" cy="502920"/>
          </a:xfrm>
          <a:prstGeom prst="ellipse">
            <a:avLst/>
          </a:prstGeom>
          <a:solidFill>
            <a:srgbClr val="9CC6B7"/>
          </a:solidFill>
          <a:ln cap="flat" cmpd="sng" w="12700">
            <a:solidFill>
              <a:srgbClr val="9CC6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989320" y="12801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View News 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989320" y="2057400"/>
            <a:ext cx="2240280" cy="502920"/>
          </a:xfrm>
          <a:prstGeom prst="ellipse">
            <a:avLst/>
          </a:prstGeom>
          <a:solidFill>
            <a:srgbClr val="9CC6B7"/>
          </a:solidFill>
          <a:ln cap="flat" cmpd="sng" w="12700">
            <a:solidFill>
              <a:srgbClr val="9CC6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989320" y="20574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Compare Perspectives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989320" y="2834640"/>
            <a:ext cx="2240280" cy="502920"/>
          </a:xfrm>
          <a:prstGeom prst="ellipse">
            <a:avLst/>
          </a:prstGeom>
          <a:solidFill>
            <a:srgbClr val="9CC6B7"/>
          </a:solidFill>
          <a:ln cap="flat" cmpd="sng" w="12700">
            <a:solidFill>
              <a:srgbClr val="9CC6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989320" y="283464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Detect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989320" y="3611880"/>
            <a:ext cx="2240280" cy="502920"/>
          </a:xfrm>
          <a:prstGeom prst="ellipse">
            <a:avLst/>
          </a:prstGeom>
          <a:solidFill>
            <a:srgbClr val="9CC6B7"/>
          </a:solidFill>
          <a:ln cap="flat" cmpd="sng" w="12700">
            <a:solidFill>
              <a:srgbClr val="9CC6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989320" y="36118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Trace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640415" y="176940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End 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051968" y="2121350"/>
            <a:ext cx="274200" cy="27420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5"/>
          <p:cNvCxnSpPr/>
          <p:nvPr/>
        </p:nvCxnSpPr>
        <p:spPr>
          <a:xfrm>
            <a:off x="5189128" y="2395670"/>
            <a:ext cx="0" cy="54870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5"/>
          <p:cNvCxnSpPr/>
          <p:nvPr/>
        </p:nvCxnSpPr>
        <p:spPr>
          <a:xfrm>
            <a:off x="4960528" y="266999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5"/>
          <p:cNvCxnSpPr/>
          <p:nvPr/>
        </p:nvCxnSpPr>
        <p:spPr>
          <a:xfrm flipH="1">
            <a:off x="5006128" y="2944310"/>
            <a:ext cx="183000" cy="64020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5"/>
          <p:cNvCxnSpPr/>
          <p:nvPr/>
        </p:nvCxnSpPr>
        <p:spPr>
          <a:xfrm>
            <a:off x="5189128" y="2944310"/>
            <a:ext cx="183000" cy="64020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5"/>
          <p:cNvSpPr/>
          <p:nvPr/>
        </p:nvSpPr>
        <p:spPr>
          <a:xfrm>
            <a:off x="8412430" y="1805968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Engineer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732520" y="2121400"/>
            <a:ext cx="274200" cy="27420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5"/>
          <p:cNvCxnSpPr/>
          <p:nvPr/>
        </p:nvCxnSpPr>
        <p:spPr>
          <a:xfrm>
            <a:off x="8869680" y="2395720"/>
            <a:ext cx="0" cy="54870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5"/>
          <p:cNvCxnSpPr/>
          <p:nvPr/>
        </p:nvCxnSpPr>
        <p:spPr>
          <a:xfrm>
            <a:off x="8641080" y="267004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5"/>
          <p:cNvCxnSpPr/>
          <p:nvPr/>
        </p:nvCxnSpPr>
        <p:spPr>
          <a:xfrm flipH="1">
            <a:off x="8686680" y="2944360"/>
            <a:ext cx="183000" cy="64020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5"/>
          <p:cNvCxnSpPr/>
          <p:nvPr/>
        </p:nvCxnSpPr>
        <p:spPr>
          <a:xfrm>
            <a:off x="8869680" y="2944360"/>
            <a:ext cx="183000" cy="64020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5"/>
          <p:cNvCxnSpPr/>
          <p:nvPr/>
        </p:nvCxnSpPr>
        <p:spPr>
          <a:xfrm flipH="1" rot="10800000">
            <a:off x="5486400" y="1554480"/>
            <a:ext cx="502920" cy="118872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5"/>
          <p:cNvCxnSpPr/>
          <p:nvPr/>
        </p:nvCxnSpPr>
        <p:spPr>
          <a:xfrm flipH="1" rot="10800000">
            <a:off x="5486400" y="2377440"/>
            <a:ext cx="502920" cy="36576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5"/>
          <p:cNvCxnSpPr>
            <a:endCxn id="79" idx="1"/>
          </p:cNvCxnSpPr>
          <p:nvPr/>
        </p:nvCxnSpPr>
        <p:spPr>
          <a:xfrm>
            <a:off x="5486520" y="2743200"/>
            <a:ext cx="502800" cy="3429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5"/>
          <p:cNvCxnSpPr>
            <a:endCxn id="81" idx="3"/>
          </p:cNvCxnSpPr>
          <p:nvPr/>
        </p:nvCxnSpPr>
        <p:spPr>
          <a:xfrm flipH="1">
            <a:off x="8229600" y="2743140"/>
            <a:ext cx="502800" cy="112020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411480" y="11887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05156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Minimum Usable Product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11480" y="155448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400"/>
              <a:buFont typeface="Calibri"/>
              <a:buNone/>
            </a:pPr>
            <a:r>
              <a:rPr b="0" i="0" lang="en-US" sz="6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MVP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11480" y="2743200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Live map with summary &amp; topic modeling — fed by ≥3 sources × 5 countries, refreshed continuously.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846320" y="502920"/>
            <a:ext cx="3886200" cy="777240"/>
          </a:xfrm>
          <a:prstGeom prst="roundRect">
            <a:avLst>
              <a:gd fmla="val 14118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983480" y="50292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440680" y="61264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440680" y="9144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News API → dlt · BeautifulSoup scraping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846320" y="1371600"/>
            <a:ext cx="3886200" cy="777240"/>
          </a:xfrm>
          <a:prstGeom prst="roundRect">
            <a:avLst>
              <a:gd fmla="val 14118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983480" y="137160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40680" y="148132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440680" y="17830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Kafka stream — events collection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846320" y="2240280"/>
            <a:ext cx="3886200" cy="777240"/>
          </a:xfrm>
          <a:prstGeom prst="roundRect">
            <a:avLst>
              <a:gd fmla="val 14118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983480" y="224028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40680" y="235000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440680" y="265176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Spark — clean, normalize, classify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846320" y="3108960"/>
            <a:ext cx="3886200" cy="777240"/>
          </a:xfrm>
          <a:prstGeom prst="roundRect">
            <a:avLst>
              <a:gd fmla="val 14118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983480" y="310896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40680" y="321868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40680" y="352044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ClickHouse warehouse + data marts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846320" y="3977640"/>
            <a:ext cx="3886200" cy="777240"/>
          </a:xfrm>
          <a:prstGeom prst="roundRect">
            <a:avLst>
              <a:gd fmla="val 14118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983480" y="397764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440680" y="408736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440680" y="438912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Streamlit dashboard with live world map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411480" y="11887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05156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Time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11480" y="15544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Time Plan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7"/>
          <p:cNvCxnSpPr/>
          <p:nvPr/>
        </p:nvCxnSpPr>
        <p:spPr>
          <a:xfrm>
            <a:off x="1371600" y="3291840"/>
            <a:ext cx="640080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7"/>
          <p:cNvSpPr/>
          <p:nvPr/>
        </p:nvSpPr>
        <p:spPr>
          <a:xfrm>
            <a:off x="1289304" y="3209544"/>
            <a:ext cx="164592" cy="164592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868680" y="2788920"/>
            <a:ext cx="1005840" cy="292608"/>
          </a:xfrm>
          <a:prstGeom prst="roundRect">
            <a:avLst>
              <a:gd fmla="val 50000" name="adj"/>
            </a:avLst>
          </a:prstGeom>
          <a:solidFill>
            <a:srgbClr val="F4F4F4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68680" y="278892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34564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Infra &amp; 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379476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Jack: ClickHouse + AI dev rules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Nadi: News API + scrape 1 site → Kafka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Karina: report + support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422904" y="3209544"/>
            <a:ext cx="164592" cy="164592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3002280" y="2788920"/>
            <a:ext cx="1005840" cy="292608"/>
          </a:xfrm>
          <a:prstGeom prst="roundRect">
            <a:avLst>
              <a:gd fmla="val 50000" name="adj"/>
            </a:avLst>
          </a:prstGeom>
          <a:solidFill>
            <a:srgbClr val="F4F4F4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3002280" y="278892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+2 weeks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590800" y="34564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Transform &amp; Store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590800" y="379476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Spark cleaning &amp; topic classification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dlt → ClickHouse loading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first data marts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556504" y="3209544"/>
            <a:ext cx="164592" cy="164592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135880" y="2788920"/>
            <a:ext cx="1005840" cy="292608"/>
          </a:xfrm>
          <a:prstGeom prst="roundRect">
            <a:avLst>
              <a:gd fmla="val 50000" name="adj"/>
            </a:avLst>
          </a:prstGeom>
          <a:solidFill>
            <a:srgbClr val="F4F4F4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5135880" y="278892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+4 weeks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724400" y="34564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Dashboard MVP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724400" y="379476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Streamlit map · summaries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and topic modeling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690104" y="3209544"/>
            <a:ext cx="164592" cy="164592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269480" y="2788920"/>
            <a:ext cx="1005840" cy="292608"/>
          </a:xfrm>
          <a:prstGeom prst="roundRect">
            <a:avLst>
              <a:gd fmla="val 50000" name="adj"/>
            </a:avLst>
          </a:prstGeom>
          <a:solidFill>
            <a:srgbClr val="F4F4F4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269480" y="278892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+6 weeks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858000" y="34564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Polish &amp;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858000" y="379476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Deep learning topic 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Observability traces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Final pitch &amp; report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411480" y="480060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7"/>
          <p:cNvSpPr/>
          <p:nvPr/>
        </p:nvSpPr>
        <p:spPr>
          <a:xfrm>
            <a:off x="411480" y="4846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Team — Nadi · Karina · Jack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903720" y="4846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version 0.1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